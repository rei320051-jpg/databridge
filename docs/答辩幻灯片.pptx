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各位评委好。我们解决的是企业把数据库交给 AI Agent 后最致命的问题——数字看起来正常，但它是错的。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企业里出事的不是报错，而是不报错的错数、各说各话的口径、和 AI 越界编造。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同一个库同一个问题，S1 报 1,816 万，真值 1,719 万，差了将近 97 万，而且 SQL 不报错。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四道防线对应后面成员 2 和成员 1 的展开。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比如退款率，字典写死分母是实付金额，不是净销售额。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“销售额”在业务里是歧义词。数桥把选择权交还用户，同一批人不会再吵出两个数字。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结构上保证退款不被重复累计，同一订单多退多少，净销就精确降多少。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接近一半退款发生在支付之后的月份，方案 A 让历史月份零漂移，已三人冻结。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每条拒答都说明缺什么、下一步怎么问，绝不编造。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五步操作：质检、问环比、澄清验证同数、Agent 简报、翻真实 SQL。全程真实 live 链路。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数字之外还返回口径、查了哪些表、执行了什么 SQL、数据集版本。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我们自己的演示数据也曾查出超额退款，修复机制让正式库归零。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37 道题逐题真实计算，错在哪一层、错多少钱都可复现。换成真实大模型看下一页。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模型全程碰不到数据库。换真实 DeepSeek 重跑 67 题数字一个不差，13 题零调用，总共不到三分钱。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三个人按同一份契约独立交付，再用自动化测试证明拼得起来。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主动讲限制是加分项：做到了什么、只验证了哪家模型、什么没测，全部摊开讲。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金句收尾后进入提问；每个公共问题都有对应章节和实测数字支撑。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1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737360"/>
            <a:ext cx="5120640" cy="5120640"/>
          </a:xfrm>
          <a:prstGeom prst="ellipse">
            <a:avLst/>
          </a:prstGeom>
          <a:solidFill>
            <a:srgbClr val="2656BD">
              <a:alpha val="4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365760"/>
            <a:ext cx="3017520" cy="292608"/>
          </a:xfrm>
          <a:prstGeom prst="roundRect">
            <a:avLst>
              <a:gd name="adj" fmla="val 1562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6576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可信取数 · TRUSTED DATA GATEWAY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730752" y="507492"/>
            <a:ext cx="5669280" cy="20117"/>
          </a:xfrm>
          <a:prstGeom prst="rect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887968" y="365760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C6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v1.2 / demo-v1.1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469880" y="-36576"/>
            <a:ext cx="1371600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5400" b="1" dirty="0">
                <a:solidFill>
                  <a:srgbClr val="FFFFFF">
                    <a:alpha val="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566928" y="132588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数桥 DataBridge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566928" y="221284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C7D8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 AI Agent 的可信取数平台 —— 让大模型给出的每一个数字，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C7D8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都解释得清口径、追得回源头、证得了对错。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66928" y="3310128"/>
            <a:ext cx="1449324" cy="329184"/>
          </a:xfrm>
          <a:prstGeom prst="roundRect">
            <a:avLst>
              <a:gd name="adj" fmla="val 47222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3310128"/>
            <a:ext cx="1449324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只读 · 零写操作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162556" y="3310128"/>
            <a:ext cx="1184148" cy="329184"/>
          </a:xfrm>
          <a:prstGeom prst="roundRect">
            <a:avLst>
              <a:gd name="adj" fmla="val 47222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62556" y="3310128"/>
            <a:ext cx="1184148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个冻结指标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493008" y="3310128"/>
            <a:ext cx="918972" cy="329184"/>
          </a:xfrm>
          <a:prstGeom prst="roundRect">
            <a:avLst>
              <a:gd name="adj" fmla="val 47222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93008" y="3310128"/>
            <a:ext cx="918972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歧义先澄清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58284" y="3310128"/>
            <a:ext cx="918972" cy="329184"/>
          </a:xfrm>
          <a:prstGeom prst="roundRect">
            <a:avLst>
              <a:gd name="adj" fmla="val 47222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58284" y="3310128"/>
            <a:ext cx="918972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数字可追溯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623560" y="3310128"/>
            <a:ext cx="1449324" cy="329184"/>
          </a:xfrm>
          <a:prstGeom prst="roundRect">
            <a:avLst>
              <a:gd name="adj" fmla="val 47222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23560" y="3310128"/>
            <a:ext cx="1449324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三人三模块契约驱动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6928" y="3977640"/>
            <a:ext cx="3612794" cy="1051560"/>
          </a:xfrm>
          <a:prstGeom prst="roundRect">
            <a:avLst>
              <a:gd name="adj" fmla="val 695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4133088"/>
            <a:ext cx="324703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C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2026-09 全平台净销售额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49808" y="4407408"/>
            <a:ext cx="32470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17,198,835.91 元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289450" y="3977640"/>
            <a:ext cx="3612794" cy="1051560"/>
          </a:xfrm>
          <a:prstGeom prst="roundRect">
            <a:avLst>
              <a:gd name="adj" fmla="val 695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72330" y="4133088"/>
            <a:ext cx="324703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C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演示主线数据集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472330" y="4407408"/>
            <a:ext cx="32470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20,000 订单 · 9 个月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8011973" y="3977640"/>
            <a:ext cx="3612794" cy="1051560"/>
          </a:xfrm>
          <a:prstGeom prst="roundRect">
            <a:avLst>
              <a:gd name="adj" fmla="val 695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94853" y="4133088"/>
            <a:ext cx="324703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C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自动化测试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194853" y="4407408"/>
            <a:ext cx="32470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入口全绿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66928" y="62636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6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赛题 · 中国数联 × 华师大 AI 智能体校园黑客松 · 2026-10 ｜ sha256 manifest 锁定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3017520" cy="292608"/>
          </a:xfrm>
          <a:prstGeom prst="roundRect">
            <a:avLst>
              <a:gd name="adj" fmla="val 15625"/>
            </a:avLst>
          </a:prstGeom>
          <a:solidFill>
            <a:srgbClr val="2F5FD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6576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· 问题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730752" y="507492"/>
            <a:ext cx="5669280" cy="20117"/>
          </a:xfrm>
          <a:prstGeom prst="rect">
            <a:avLst/>
          </a:prstGeom>
          <a:solidFill>
            <a:srgbClr val="2F5FD0"/>
          </a:solidFill>
          <a:ln/>
        </p:spPr>
      </p:sp>
      <p:sp>
        <p:nvSpPr>
          <p:cNvPr id="5" name="Text 3"/>
          <p:cNvSpPr/>
          <p:nvPr/>
        </p:nvSpPr>
        <p:spPr>
          <a:xfrm>
            <a:off x="8887968" y="365760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76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门槛已经不是“写不写得出 SQL”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469880" y="-36576"/>
            <a:ext cx="1371600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5400" b="1" dirty="0">
                <a:solidFill>
                  <a:srgbClr val="F2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566928" y="93268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C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能拿到数，但企业不敢用这个数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66928" y="1810512"/>
            <a:ext cx="3533546" cy="2395728"/>
          </a:xfrm>
          <a:prstGeom prst="roundRect">
            <a:avLst>
              <a:gd name="adj" fmla="val 3435"/>
            </a:avLst>
          </a:prstGeom>
          <a:solidFill>
            <a:srgbClr val="FDECEC"/>
          </a:solidFill>
          <a:ln w="12700">
            <a:solidFill>
              <a:srgbClr val="E6B9B9"/>
            </a:solidFill>
            <a:prstDash val="solid"/>
          </a:ln>
          <a:effectLst>
            <a:outerShdw sx="100000" sy="100000" kx="0" ky="0" algn="bl" rotWithShape="0" blurRad="101600" dist="50800" dir="16200000">
              <a:srgbClr val="0D1B32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49808" y="200253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DECEC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2002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≠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52144" y="1993392"/>
            <a:ext cx="296661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C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各说各话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49808" y="2468880"/>
            <a:ext cx="31677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221.5 万元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49808" y="2953512"/>
            <a:ext cx="316778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3A4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同一个“9月销售额”：净销 1,720 万还是实付 1,941 万？差的正是当月退款，没人说清用哪个口径。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29074" y="1810512"/>
            <a:ext cx="3533546" cy="2395728"/>
          </a:xfrm>
          <a:prstGeom prst="roundRect">
            <a:avLst>
              <a:gd name="adj" fmla="val 3435"/>
            </a:avLst>
          </a:prstGeom>
          <a:solidFill>
            <a:srgbClr val="FDECEC"/>
          </a:solidFill>
          <a:ln w="12700">
            <a:solidFill>
              <a:srgbClr val="E6B9B9"/>
            </a:solidFill>
            <a:prstDash val="solid"/>
          </a:ln>
          <a:effectLst>
            <a:outerShdw sx="100000" sy="100000" kx="0" ky="0" algn="bl" rotWithShape="0" blurRad="101600" dist="50800" dir="16200000">
              <a:srgbClr val="0D1B32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11954" y="200253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DECEC"/>
          </a:solidFill>
          <a:ln/>
        </p:spPr>
      </p:sp>
      <p:sp>
        <p:nvSpPr>
          <p:cNvPr id="16" name="Text 14"/>
          <p:cNvSpPr/>
          <p:nvPr/>
        </p:nvSpPr>
        <p:spPr>
          <a:xfrm>
            <a:off x="4511954" y="2002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14290" y="1993392"/>
            <a:ext cx="296661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C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错而不自知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11954" y="2468880"/>
            <a:ext cx="31677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+96.8 万元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511954" y="2953512"/>
            <a:ext cx="316778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3A4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 能跑、不报错，但取消订单混入、退款被一对多累计，9 月净销虚高 5.63%，错误静默通过。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091221" y="1810512"/>
            <a:ext cx="3533546" cy="2395728"/>
          </a:xfrm>
          <a:prstGeom prst="roundRect">
            <a:avLst>
              <a:gd name="adj" fmla="val 3435"/>
            </a:avLst>
          </a:prstGeom>
          <a:solidFill>
            <a:srgbClr val="FDECEC"/>
          </a:solidFill>
          <a:ln w="12700">
            <a:solidFill>
              <a:srgbClr val="E6B9B9"/>
            </a:solidFill>
            <a:prstDash val="solid"/>
          </a:ln>
          <a:effectLst>
            <a:outerShdw sx="100000" sy="100000" kx="0" ky="0" algn="bl" rotWithShape="0" blurRad="101600" dist="50800" dir="16200000">
              <a:srgbClr val="0D1B32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74101" y="200253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DECEC"/>
          </a:solidFill>
          <a:ln/>
        </p:spPr>
      </p:sp>
      <p:sp>
        <p:nvSpPr>
          <p:cNvPr id="22" name="Text 20"/>
          <p:cNvSpPr/>
          <p:nvPr/>
        </p:nvSpPr>
        <p:spPr>
          <a:xfrm>
            <a:off x="8274101" y="2002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✎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676437" y="1993392"/>
            <a:ext cx="296661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C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自信地编造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8274101" y="2468880"/>
            <a:ext cx="31677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37 题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8274101" y="2953512"/>
            <a:ext cx="316778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3A4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因果归因、未来预测、写操作、未定义指标——直接 Text-to-SQL 在正式库上全部“自信作答”，无一拒答。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66928" y="4434840"/>
            <a:ext cx="11057839" cy="1170432"/>
          </a:xfrm>
          <a:prstGeom prst="roundRect">
            <a:avLst>
              <a:gd name="adj" fmla="val 7031"/>
            </a:avLst>
          </a:prstGeom>
          <a:solidFill>
            <a:srgbClr val="F3F7FF"/>
          </a:solidFill>
          <a:ln w="12700">
            <a:solidFill>
              <a:srgbClr val="CDDD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4645152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3A4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Text-to-SQL 解决了“能不能拿到数”；企业真正出事的是“这个数字能不能信、敢不敢写进汇报”。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A4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37 道业务题实测：直接方案 </a:t>
            </a:r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 0 题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A4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——不是 SQL 写错，而是缺了口径、澄清、安全聚合与边界四层治理。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66928" y="6345936"/>
            <a:ext cx="11057839" cy="10973"/>
          </a:xfrm>
          <a:prstGeom prst="rect">
            <a:avLst/>
          </a:prstGeom>
          <a:solidFill>
            <a:srgbClr val="DDE4EE"/>
          </a:solidFill>
          <a:ln/>
        </p:spPr>
      </p:sp>
      <p:sp>
        <p:nvSpPr>
          <p:cNvPr id="29" name="Text 27"/>
          <p:cNvSpPr/>
          <p:nvPr/>
        </p:nvSpPr>
        <p:spPr>
          <a:xfrm>
            <a:off x="566928" y="641908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976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数字均来自 demo-v1.1 真实计算（正式联调库，非页面模拟数）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235440" y="6419088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6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_experiment_formal_out.txt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3017520" cy="292608"/>
          </a:xfrm>
          <a:prstGeom prst="roundRect">
            <a:avLst>
              <a:gd name="adj" fmla="val 15625"/>
            </a:avLst>
          </a:prstGeom>
          <a:solidFill>
            <a:srgbClr val="2F5FD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6576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· 同一个问题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730752" y="507492"/>
            <a:ext cx="5669280" cy="20117"/>
          </a:xfrm>
          <a:prstGeom prst="rect">
            <a:avLst/>
          </a:prstGeom>
          <a:solidFill>
            <a:srgbClr val="2F5FD0"/>
          </a:solidFill>
          <a:ln/>
        </p:spPr>
      </p:sp>
      <p:sp>
        <p:nvSpPr>
          <p:cNvPr id="5" name="Text 3"/>
          <p:cNvSpPr/>
          <p:nvPr/>
        </p:nvSpPr>
        <p:spPr>
          <a:xfrm>
            <a:off x="8887968" y="365760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76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两个数字 · 差 96.8 万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469880" y="-36576"/>
            <a:ext cx="1371600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5400" b="1" dirty="0">
                <a:solidFill>
                  <a:srgbClr val="F2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566928" y="93268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C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问：2026 年 9 月的净销售额是多少？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66928" y="1783080"/>
            <a:ext cx="5230368" cy="2542032"/>
          </a:xfrm>
          <a:prstGeom prst="roundRect">
            <a:avLst>
              <a:gd name="adj" fmla="val 3237"/>
            </a:avLst>
          </a:prstGeom>
          <a:solidFill>
            <a:srgbClr val="FDECEC"/>
          </a:solidFill>
          <a:ln w="12700">
            <a:solidFill>
              <a:srgbClr val="E6B9B9"/>
            </a:solidFill>
            <a:prstDash val="solid"/>
          </a:ln>
          <a:effectLst>
            <a:outerShdw sx="100000" sy="100000" kx="0" ky="0" algn="bl" rotWithShape="0" blurRad="101600" dist="50800" dir="16200000">
              <a:srgbClr val="0D1B32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95528" y="1947672"/>
            <a:ext cx="4773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 Text-to-SQL（S1）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95528" y="2350008"/>
            <a:ext cx="4773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18,166,729.12 元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795528" y="3081528"/>
            <a:ext cx="4773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976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偏差　</a:t>
            </a:r>
            <a:pPr indent="0" marL="0">
              <a:buNone/>
            </a:pPr>
            <a:r>
              <a:rPr lang="en-US" sz="125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+967,893.21 元（+5.63%）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95528" y="3465576"/>
            <a:ext cx="4773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976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　</a:t>
            </a:r>
            <a:pPr indent="0" marL="0">
              <a:buNone/>
            </a:pPr>
            <a:r>
              <a:rPr lang="en-US" sz="125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能执行、无任何报错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95528" y="3849624"/>
            <a:ext cx="4773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976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37 道业务题完成数　</a:t>
            </a:r>
            <a:pPr indent="0" marL="0">
              <a:buNone/>
            </a:pPr>
            <a:r>
              <a:rPr lang="en-US" sz="125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870448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976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0" y="1783080"/>
            <a:ext cx="5221224" cy="2542032"/>
          </a:xfrm>
          <a:prstGeom prst="roundRect">
            <a:avLst>
              <a:gd name="adj" fmla="val 3237"/>
            </a:avLst>
          </a:prstGeom>
          <a:solidFill>
            <a:srgbClr val="EBF6EF"/>
          </a:solidFill>
          <a:ln w="12700">
            <a:solidFill>
              <a:srgbClr val="AED6BD"/>
            </a:solidFill>
            <a:prstDash val="solid"/>
          </a:ln>
          <a:effectLst>
            <a:outerShdw sx="100000" sy="100000" kx="0" ky="0" algn="bl" rotWithShape="0" blurRad="101600" dist="50800" dir="16200000">
              <a:srgbClr val="0D1B32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629400" y="1947672"/>
            <a:ext cx="4764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数桥 S2（完整治理方案）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29400" y="2350008"/>
            <a:ext cx="4764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C7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17,198,835.91 元</a:t>
            </a:r>
            <a:endParaRPr lang="en-US" sz="3100" dirty="0"/>
          </a:p>
        </p:txBody>
      </p:sp>
      <p:sp>
        <p:nvSpPr>
          <p:cNvPr id="18" name="Text 16"/>
          <p:cNvSpPr/>
          <p:nvPr/>
        </p:nvSpPr>
        <p:spPr>
          <a:xfrm>
            <a:off x="6629400" y="3081528"/>
            <a:ext cx="4764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976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偏差　</a:t>
            </a:r>
            <a:pPr indent="0" marL="0">
              <a:buNone/>
            </a:pPr>
            <a:r>
              <a:rPr lang="en-US" sz="1250" b="1" dirty="0">
                <a:solidFill>
                  <a:srgbClr val="1C7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参考真值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629400" y="3465576"/>
            <a:ext cx="4764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976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　</a:t>
            </a:r>
            <a:pPr indent="0" marL="0">
              <a:buNone/>
            </a:pPr>
            <a:r>
              <a:rPr lang="en-US" sz="1250" b="1" dirty="0">
                <a:solidFill>
                  <a:srgbClr val="1C7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能执行，且每个数字可追溯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629400" y="3849624"/>
            <a:ext cx="4764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976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37 道业务题完成数　</a:t>
            </a:r>
            <a:pPr indent="0" marL="0">
              <a:buNone/>
            </a:pPr>
            <a:r>
              <a:rPr lang="en-US" sz="1250" b="1" dirty="0">
                <a:solidFill>
                  <a:srgbClr val="1C7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37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66928" y="4617720"/>
            <a:ext cx="11057839" cy="1005840"/>
          </a:xfrm>
          <a:prstGeom prst="roundRect">
            <a:avLst>
              <a:gd name="adj" fmla="val 8182"/>
            </a:avLst>
          </a:prstGeom>
          <a:solidFill>
            <a:srgbClr val="F3F7FF"/>
          </a:solidFill>
          <a:ln w="12700">
            <a:solidFill>
              <a:srgbClr val="CDDD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617720"/>
            <a:ext cx="10545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42C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最危险的是它不报错：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A4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同一个库、同一个问题，SQL 都跑得通，财务汇报时这就是一场事故。数桥的口径、澄清、安全聚合让数字回到真值。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66928" y="6345936"/>
            <a:ext cx="11057839" cy="10973"/>
          </a:xfrm>
          <a:prstGeom prst="rect">
            <a:avLst/>
          </a:prstGeom>
          <a:solidFill>
            <a:srgbClr val="DDE4EE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641908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976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S1 为确定性直接 Text-to-SQL 基线；同一正式库、同一问题，差异可逐笔复现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235440" y="6419088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6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_对照实验明细_formal.csv · D01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3017520" cy="292608"/>
          </a:xfrm>
          <a:prstGeom prst="roundRect">
            <a:avLst>
              <a:gd name="adj" fmla="val 15625"/>
            </a:avLst>
          </a:prstGeom>
          <a:solidFill>
            <a:srgbClr val="2F5FD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6576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· 产品定位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730752" y="507492"/>
            <a:ext cx="5669280" cy="20117"/>
          </a:xfrm>
          <a:prstGeom prst="rect">
            <a:avLst/>
          </a:prstGeom>
          <a:solidFill>
            <a:srgbClr val="2F5FD0"/>
          </a:solidFill>
          <a:ln/>
        </p:spPr>
      </p:sp>
      <p:sp>
        <p:nvSpPr>
          <p:cNvPr id="5" name="Text 3"/>
          <p:cNvSpPr/>
          <p:nvPr/>
        </p:nvSpPr>
        <p:spPr>
          <a:xfrm>
            <a:off x="8887968" y="365760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76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业务字典 + 查询计划 + 澄清 + 结果检查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469880" y="-36576"/>
            <a:ext cx="1371600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5400" b="1" dirty="0">
                <a:solidFill>
                  <a:srgbClr val="F2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566928" y="93268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C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数字到你手里之前，先过四道关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66928" y="1810512"/>
            <a:ext cx="11057839" cy="987552"/>
          </a:xfrm>
          <a:prstGeom prst="roundRect">
            <a:avLst>
              <a:gd name="adj" fmla="val 8333"/>
            </a:avLst>
          </a:prstGeom>
          <a:solidFill>
            <a:srgbClr val="142C55"/>
          </a:solidFill>
          <a:ln w="12700">
            <a:solidFill>
              <a:srgbClr val="142C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810512"/>
            <a:ext cx="11057839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数桥 = 业务字典 ＋ 查询计划 ＋ 歧义澄清 ＋ 结果检查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66928" y="3108960"/>
            <a:ext cx="2661590" cy="2331720"/>
          </a:xfrm>
          <a:prstGeom prst="roundRect">
            <a:avLst>
              <a:gd name="adj" fmla="val 3529"/>
            </a:avLst>
          </a:prstGeom>
          <a:solidFill>
            <a:srgbClr val="FBFCFE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01600" dist="50800" dir="16200000">
              <a:srgbClr val="0D1B32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3108960"/>
            <a:ext cx="2332406" cy="45720"/>
          </a:xfrm>
          <a:prstGeom prst="rect">
            <a:avLst/>
          </a:prstGeom>
          <a:solidFill>
            <a:srgbClr val="2F5FD0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" y="33101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5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49808" y="3675888"/>
            <a:ext cx="229583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C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统一口径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49808" y="4133088"/>
            <a:ext cx="229583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4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个指标写进共享契约，页面 / Agent / SQL 服务同一份定义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365678" y="3108960"/>
            <a:ext cx="2661590" cy="2331720"/>
          </a:xfrm>
          <a:prstGeom prst="roundRect">
            <a:avLst>
              <a:gd name="adj" fmla="val 3529"/>
            </a:avLst>
          </a:prstGeom>
          <a:solidFill>
            <a:srgbClr val="FBFCFE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01600" dist="50800" dir="16200000">
              <a:srgbClr val="0D1B32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530270" y="3108960"/>
            <a:ext cx="2332406" cy="45720"/>
          </a:xfrm>
          <a:prstGeom prst="rect">
            <a:avLst/>
          </a:prstGeom>
          <a:solidFill>
            <a:srgbClr val="2F5FD0"/>
          </a:solidFill>
          <a:ln/>
        </p:spPr>
      </p:sp>
      <p:sp>
        <p:nvSpPr>
          <p:cNvPr id="17" name="Text 15"/>
          <p:cNvSpPr/>
          <p:nvPr/>
        </p:nvSpPr>
        <p:spPr>
          <a:xfrm>
            <a:off x="3548558" y="33101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5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548558" y="3675888"/>
            <a:ext cx="229583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C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先澄清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548558" y="4133088"/>
            <a:ext cx="229583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4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命中歧义词必须问清楚，最多 2 轮，绝不替用户猜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64428" y="3108960"/>
            <a:ext cx="2661590" cy="2331720"/>
          </a:xfrm>
          <a:prstGeom prst="roundRect">
            <a:avLst>
              <a:gd name="adj" fmla="val 3529"/>
            </a:avLst>
          </a:prstGeom>
          <a:solidFill>
            <a:srgbClr val="FBFCFE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01600" dist="50800" dir="16200000">
              <a:srgbClr val="0D1B32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29020" y="3108960"/>
            <a:ext cx="2332406" cy="45720"/>
          </a:xfrm>
          <a:prstGeom prst="rect">
            <a:avLst/>
          </a:prstGeom>
          <a:solidFill>
            <a:srgbClr val="2F5FD0"/>
          </a:solidFill>
          <a:ln/>
        </p:spPr>
      </p:sp>
      <p:sp>
        <p:nvSpPr>
          <p:cNvPr id="22" name="Text 20"/>
          <p:cNvSpPr/>
          <p:nvPr/>
        </p:nvSpPr>
        <p:spPr>
          <a:xfrm>
            <a:off x="6347308" y="33101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5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47308" y="3675888"/>
            <a:ext cx="229583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C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安全聚合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47308" y="4133088"/>
            <a:ext cx="229583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4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成功状态过滤、退款先按订单预聚合、按退款完成月归属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963177" y="3108960"/>
            <a:ext cx="2661590" cy="2331720"/>
          </a:xfrm>
          <a:prstGeom prst="roundRect">
            <a:avLst>
              <a:gd name="adj" fmla="val 3529"/>
            </a:avLst>
          </a:prstGeom>
          <a:solidFill>
            <a:srgbClr val="FBFCFE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01600" dist="50800" dir="16200000">
              <a:srgbClr val="0D1B32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127769" y="3108960"/>
            <a:ext cx="2332406" cy="45720"/>
          </a:xfrm>
          <a:prstGeom prst="rect">
            <a:avLst/>
          </a:prstGeom>
          <a:solidFill>
            <a:srgbClr val="2F5FD0"/>
          </a:solidFill>
          <a:ln/>
        </p:spPr>
      </p:sp>
      <p:sp>
        <p:nvSpPr>
          <p:cNvPr id="27" name="Text 25"/>
          <p:cNvSpPr/>
          <p:nvPr/>
        </p:nvSpPr>
        <p:spPr>
          <a:xfrm>
            <a:off x="9146057" y="33101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5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146057" y="3675888"/>
            <a:ext cx="229583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C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有边界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146057" y="4133088"/>
            <a:ext cx="229583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4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因果 / 预测 / 写操作 / 未定义指标——明确拒绝并说明缺什么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66928" y="6345936"/>
            <a:ext cx="11057839" cy="10973"/>
          </a:xfrm>
          <a:prstGeom prst="rect">
            <a:avLst/>
          </a:prstGeom>
          <a:solidFill>
            <a:srgbClr val="DDE4EE"/>
          </a:solidFill>
          <a:ln/>
        </p:spPr>
      </p:sp>
      <p:sp>
        <p:nvSpPr>
          <p:cNvPr id="31" name="Text 29"/>
          <p:cNvSpPr/>
          <p:nvPr/>
        </p:nvSpPr>
        <p:spPr>
          <a:xfrm>
            <a:off x="566928" y="641908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976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接下来分别展开：Agent 怎么理解问题、数字怎么保证正确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235440" y="6419088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6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shared/contracts.py v1.2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3017520" cy="292608"/>
          </a:xfrm>
          <a:prstGeom prst="roundRect">
            <a:avLst>
              <a:gd name="adj" fmla="val 15625"/>
            </a:avLst>
          </a:prstGeom>
          <a:solidFill>
            <a:srgbClr val="2F5FD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6576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· 防线一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730752" y="507492"/>
            <a:ext cx="5669280" cy="20117"/>
          </a:xfrm>
          <a:prstGeom prst="rect">
            <a:avLst/>
          </a:prstGeom>
          <a:solidFill>
            <a:srgbClr val="2F5FD0"/>
          </a:solidFill>
          <a:ln/>
        </p:spPr>
      </p:sp>
      <p:sp>
        <p:nvSpPr>
          <p:cNvPr id="5" name="Text 3"/>
          <p:cNvSpPr/>
          <p:nvPr/>
        </p:nvSpPr>
        <p:spPr>
          <a:xfrm>
            <a:off x="8887968" y="365760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76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业务字典 · 8 个指标只有一种算法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469880" y="-36576"/>
            <a:ext cx="1371600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5400" b="1" dirty="0">
                <a:solidFill>
                  <a:srgbClr val="F2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566928" y="93268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C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不临场理解指标，算法写进共享契约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66928" y="1810512"/>
            <a:ext cx="5486400" cy="2212848"/>
          </a:xfrm>
          <a:prstGeom prst="roundRect">
            <a:avLst>
              <a:gd name="adj" fmla="val 3719"/>
            </a:avLst>
          </a:prstGeom>
          <a:solidFill>
            <a:srgbClr val="FBFCFE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01600" dist="50800" dir="16200000">
              <a:srgbClr val="0D1B32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95528" y="1975104"/>
            <a:ext cx="914377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C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个基础指标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95528" y="237744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lang="en-US" sz="1200" dirty="0">
                <a:solidFill>
                  <a:srgbClr val="3A4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支付订单数（去重 order_id）</a:t>
            </a:r>
            <a:endParaRPr lang="en-US" sz="1200" dirty="0"/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lang="en-US" sz="1200" dirty="0">
                <a:solidFill>
                  <a:srgbClr val="3A4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支付人数（去重 customer_id）</a:t>
            </a:r>
            <a:endParaRPr lang="en-US" sz="1200" dirty="0"/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lang="en-US" sz="1200" dirty="0">
                <a:solidFill>
                  <a:srgbClr val="3A4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实付金额（仅 success 支付）</a:t>
            </a:r>
            <a:endParaRPr lang="en-US" sz="1200" dirty="0"/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lang="en-US" sz="1200" dirty="0">
                <a:solidFill>
                  <a:srgbClr val="3A4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成功退款金额（仅 success 退款）</a:t>
            </a:r>
            <a:endParaRPr lang="en-US" sz="1200" dirty="0"/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lang="en-US" sz="1200" dirty="0">
                <a:solidFill>
                  <a:srgbClr val="3A4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净销售额 = 实付 − 同期成功退款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72784" y="1810512"/>
            <a:ext cx="5351983" cy="2212848"/>
          </a:xfrm>
          <a:prstGeom prst="roundRect">
            <a:avLst>
              <a:gd name="adj" fmla="val 3719"/>
            </a:avLst>
          </a:prstGeom>
          <a:solidFill>
            <a:srgbClr val="F3F7FF"/>
          </a:solidFill>
          <a:ln w="12700">
            <a:solidFill>
              <a:srgbClr val="CDDDF7"/>
            </a:solidFill>
            <a:prstDash val="solid"/>
          </a:ln>
          <a:effectLst>
            <a:outerShdw sx="100000" sy="100000" kx="0" ky="0" algn="bl" rotWithShape="0" blurRad="101600" dist="50800" dir="16200000">
              <a:srgbClr val="0D1B32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01384" y="1975104"/>
            <a:ext cx="914377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C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个派生比率（v1.2）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01384" y="2377440"/>
            <a:ext cx="4894783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lang="en-US" sz="1200" dirty="0">
                <a:solidFill>
                  <a:srgbClr val="3A4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退款率 ＝ 成功退款 / 实付金额</a:t>
            </a:r>
            <a:endParaRPr lang="en-US" sz="1200" dirty="0"/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lang="en-US" sz="1200" dirty="0">
                <a:solidFill>
                  <a:srgbClr val="3A4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客单价 ＝ 实付金额 / 支付订单数</a:t>
            </a:r>
            <a:endParaRPr lang="en-US" sz="1200" dirty="0"/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lang="en-US" sz="1200" dirty="0">
                <a:solidFill>
                  <a:srgbClr val="3A4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支付人均消费 ＝ 实付金额 / 支付人数</a:t>
            </a:r>
            <a:endParaRPr lang="en-US" sz="1200" dirty="0"/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lang="en-US" sz="1200" dirty="0">
                <a:solidFill>
                  <a:srgbClr val="3A4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先汇总分子分母再相除；分母为 0 返回 null，比率统一 2 位百分比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4315968"/>
            <a:ext cx="11057839" cy="1325880"/>
          </a:xfrm>
          <a:prstGeom prst="roundRect">
            <a:avLst>
              <a:gd name="adj" fmla="val 6207"/>
            </a:avLst>
          </a:prstGeom>
          <a:solidFill>
            <a:srgbClr val="EBF6EF"/>
          </a:solidFill>
          <a:ln w="12700">
            <a:solidFill>
              <a:srgbClr val="AED6B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480560"/>
            <a:ext cx="10545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C7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唯一事实来源：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A4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页面、Agent、SQL 服务全部 import 同一份 shared/contracts.py，禁止各自写字面量。
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A4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退款率分母必须是实付金额而非净销售额——否则“退款越多、退款率越被放大”。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6345936"/>
            <a:ext cx="11057839" cy="10973"/>
          </a:xfrm>
          <a:prstGeom prst="rect">
            <a:avLst/>
          </a:prstGeom>
          <a:solidFill>
            <a:srgbClr val="DDE4EE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641908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976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派生比率在 Agent 网关层由两次分量查询组合，执行层零改动（RISK-04 已缓解）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235440" y="6419088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6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config/metrics.json · shared/contracts.py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3017520" cy="292608"/>
          </a:xfrm>
          <a:prstGeom prst="roundRect">
            <a:avLst>
              <a:gd name="adj" fmla="val 15625"/>
            </a:avLst>
          </a:prstGeom>
          <a:solidFill>
            <a:srgbClr val="2F5FD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6576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· 防线二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730752" y="507492"/>
            <a:ext cx="5669280" cy="20117"/>
          </a:xfrm>
          <a:prstGeom prst="rect">
            <a:avLst/>
          </a:prstGeom>
          <a:solidFill>
            <a:srgbClr val="2F5FD0"/>
          </a:solidFill>
          <a:ln/>
        </p:spPr>
      </p:sp>
      <p:sp>
        <p:nvSpPr>
          <p:cNvPr id="5" name="Text 3"/>
          <p:cNvSpPr/>
          <p:nvPr/>
        </p:nvSpPr>
        <p:spPr>
          <a:xfrm>
            <a:off x="8887968" y="365760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76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口径不明确，先问，不猜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469880" y="-36576"/>
            <a:ext cx="1371600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5400" b="1" dirty="0">
                <a:solidFill>
                  <a:srgbClr val="F2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566928" y="93268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C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把口径选择权交还给用户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66928" y="1810512"/>
            <a:ext cx="6720840" cy="3794760"/>
          </a:xfrm>
          <a:prstGeom prst="roundRect">
            <a:avLst>
              <a:gd name="adj" fmla="val 2169"/>
            </a:avLst>
          </a:prstGeom>
          <a:solidFill>
            <a:srgbClr val="FBFCFE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01600" dist="50800" dir="16200000">
              <a:srgbClr val="0D1B32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2011680"/>
            <a:ext cx="320040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74136" y="2075688"/>
            <a:ext cx="914377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976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374136" y="2249424"/>
            <a:ext cx="2944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9月的销售额是多少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" y="2743200"/>
            <a:ext cx="3200400" cy="1298448"/>
          </a:xfrm>
          <a:prstGeom prst="roundRect">
            <a:avLst>
              <a:gd name="adj" fmla="val 6338"/>
            </a:avLst>
          </a:prstGeom>
          <a:solidFill>
            <a:srgbClr val="EAF0FE"/>
          </a:solidFill>
          <a:ln w="12700">
            <a:solidFill>
              <a:srgbClr val="CBD9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0976" y="2834640"/>
            <a:ext cx="914377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2C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数桥：你说的「销售额」是指？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50976" y="3127248"/>
            <a:ext cx="914377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A4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净销售额 — 实付 − 同期成功退款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A4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实付金额 — 不做退款扣减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46120" y="4206240"/>
            <a:ext cx="320040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74136" y="4270248"/>
            <a:ext cx="914377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976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用户（选择）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374136" y="4443984"/>
            <a:ext cx="2944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净销售额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22960" y="4919472"/>
            <a:ext cx="3200400" cy="548640"/>
          </a:xfrm>
          <a:prstGeom prst="roundRect">
            <a:avLst>
              <a:gd name="adj" fmla="val 15000"/>
            </a:avLst>
          </a:prstGeom>
          <a:solidFill>
            <a:srgbClr val="EBF6EF"/>
          </a:solidFill>
          <a:ln w="12700">
            <a:solidFill>
              <a:srgbClr val="AED6B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0976" y="491947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7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17,198,835.91 元 ＋ 口径/SQL/版本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543800" y="1810512"/>
            <a:ext cx="4080967" cy="1783080"/>
          </a:xfrm>
          <a:prstGeom prst="roundRect">
            <a:avLst>
              <a:gd name="adj" fmla="val 4615"/>
            </a:avLst>
          </a:prstGeom>
          <a:solidFill>
            <a:srgbClr val="FDECEC"/>
          </a:solidFill>
          <a:ln w="12700">
            <a:solidFill>
              <a:srgbClr val="E6B9B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0" y="1993392"/>
            <a:ext cx="914377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两个候选当月相差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772400" y="2313432"/>
            <a:ext cx="914377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2,215,508.08 元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772400" y="3017520"/>
            <a:ext cx="914377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976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净销 17,198,835.91 与实付 19,414,343.99 的差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543800" y="3822192"/>
            <a:ext cx="4080967" cy="1783080"/>
          </a:xfrm>
          <a:prstGeom prst="roundRect">
            <a:avLst>
              <a:gd name="adj" fmla="val 4615"/>
            </a:avLst>
          </a:prstGeom>
          <a:solidFill>
            <a:srgbClr val="F3F7FF"/>
          </a:solidFill>
          <a:ln w="12700">
            <a:solidFill>
              <a:srgbClr val="CDDD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0" y="4050792"/>
            <a:ext cx="362376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lang="en-US" sz="1150" dirty="0">
                <a:solidFill>
                  <a:srgbClr val="3A4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命中歧义词表必须先澄清，禁止默认猜测</a:t>
            </a:r>
            <a:endParaRPr lang="en-US" sz="1150" dirty="0"/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lang="en-US" sz="1150" dirty="0">
                <a:solidFill>
                  <a:srgbClr val="3A4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单次提问最多 2 轮，超过即降级“数据不足”</a:t>
            </a:r>
            <a:endParaRPr lang="en-US" sz="1150" dirty="0"/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lang="en-US" sz="1150" dirty="0">
                <a:solidFill>
                  <a:srgbClr val="3A4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评价标准模糊（“哪个地区最好”）同样必须追问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66928" y="6345936"/>
            <a:ext cx="11057839" cy="10973"/>
          </a:xfrm>
          <a:prstGeom prst="rect">
            <a:avLst/>
          </a:prstGeom>
          <a:solidFill>
            <a:srgbClr val="DDE4EE"/>
          </a:solidFill>
          <a:ln/>
        </p:spPr>
      </p:sp>
      <p:sp>
        <p:nvSpPr>
          <p:cNvPr id="27" name="Text 25"/>
          <p:cNvSpPr/>
          <p:nvPr/>
        </p:nvSpPr>
        <p:spPr>
          <a:xfrm>
            <a:off x="566928" y="641908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976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正确澄清：开发集 8 题 / 保留集 8 题，模型与规则模式行为一致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235440" y="6419088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6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member2_workflow_test.py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3017520" cy="292608"/>
          </a:xfrm>
          <a:prstGeom prst="roundRect">
            <a:avLst>
              <a:gd name="adj" fmla="val 15625"/>
            </a:avLst>
          </a:prstGeom>
          <a:solidFill>
            <a:srgbClr val="2F5FD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6576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· 防线三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730752" y="507492"/>
            <a:ext cx="5669280" cy="20117"/>
          </a:xfrm>
          <a:prstGeom prst="rect">
            <a:avLst/>
          </a:prstGeom>
          <a:solidFill>
            <a:srgbClr val="2F5FD0"/>
          </a:solidFill>
          <a:ln/>
        </p:spPr>
      </p:sp>
      <p:sp>
        <p:nvSpPr>
          <p:cNvPr id="5" name="Text 3"/>
          <p:cNvSpPr/>
          <p:nvPr/>
        </p:nvSpPr>
        <p:spPr>
          <a:xfrm>
            <a:off x="8887968" y="365760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76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安全聚合 · 近 97 万的错怎么产生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469880" y="-36576"/>
            <a:ext cx="1371600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5400" b="1" dirty="0">
                <a:solidFill>
                  <a:srgbClr val="F2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566928" y="93268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C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三个独立致错来源（正式库 37 题归因）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66928" y="1810512"/>
            <a:ext cx="3533546" cy="2286000"/>
          </a:xfrm>
          <a:prstGeom prst="roundRect">
            <a:avLst>
              <a:gd name="adj" fmla="val 3600"/>
            </a:avLst>
          </a:prstGeom>
          <a:solidFill>
            <a:srgbClr val="FBFCFE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01600" dist="50800" dir="16200000">
              <a:srgbClr val="0D1B32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68096" y="1993392"/>
            <a:ext cx="313121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题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68096" y="2587752"/>
            <a:ext cx="313121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C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未排除失败 / 取消订单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8096" y="3017520"/>
            <a:ext cx="313121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A4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 SQL 不过滤状态，failed / pending / cancelled 订单与退款混入统计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29074" y="1810512"/>
            <a:ext cx="3533546" cy="2286000"/>
          </a:xfrm>
          <a:prstGeom prst="roundRect">
            <a:avLst>
              <a:gd name="adj" fmla="val 3600"/>
            </a:avLst>
          </a:prstGeom>
          <a:solidFill>
            <a:srgbClr val="FBFCFE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01600" dist="50800" dir="16200000">
              <a:srgbClr val="0D1B32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30242" y="1993392"/>
            <a:ext cx="313121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题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530242" y="2587752"/>
            <a:ext cx="313121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C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JOIN 一对多扇出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30242" y="3017520"/>
            <a:ext cx="313121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A4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orders ⨝ refunds 明细直连，一单多退时实付金额被按退款条数重复累计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91221" y="1810512"/>
            <a:ext cx="3533546" cy="2286000"/>
          </a:xfrm>
          <a:prstGeom prst="roundRect">
            <a:avLst>
              <a:gd name="adj" fmla="val 3600"/>
            </a:avLst>
          </a:prstGeom>
          <a:solidFill>
            <a:srgbClr val="FBFCFE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01600" dist="50800" dir="16200000">
              <a:srgbClr val="0D1B32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92389" y="1993392"/>
            <a:ext cx="313121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题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292389" y="2587752"/>
            <a:ext cx="313121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C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退款按支付月归属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92389" y="3017520"/>
            <a:ext cx="313121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A4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退款被挂回订单支付月，后续退款持续回溯改写已结账的历史月份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" y="4370832"/>
            <a:ext cx="11057839" cy="1280160"/>
          </a:xfrm>
          <a:prstGeom prst="roundRect">
            <a:avLst>
              <a:gd name="adj" fmla="val 6429"/>
            </a:avLst>
          </a:prstGeom>
          <a:solidFill>
            <a:srgbClr val="142C55"/>
          </a:solidFill>
          <a:ln w="12700">
            <a:solidFill>
              <a:srgbClr val="142C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" y="4526280"/>
            <a:ext cx="105091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数桥两侧独立聚合（华东 2026-09）　</a:t>
            </a:r>
            <a:pPr indent="0" marL="0">
              <a:buNone/>
            </a:pPr>
            <a:r>
              <a:rPr lang="en-US" sz="1500" b="1" dirty="0">
                <a:solidFill>
                  <a:srgbClr val="9DC3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实付 7,786,231.39 − 退款 955,887.84 = 净销 6,830,343.55 元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41248" y="5029200"/>
            <a:ext cx="105091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CC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退款先按 order_id 预聚合、再取订单快照地区，结构上不可能重复累计：同一订单追加 5 笔各 1000 元退款，净销精确下降 5000，实付不动。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66928" y="6345936"/>
            <a:ext cx="11057839" cy="10973"/>
          </a:xfrm>
          <a:prstGeom prst="rect">
            <a:avLst/>
          </a:prstGeom>
          <a:solidFill>
            <a:srgbClr val="DDE4EE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641908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976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归因方法：从正确管线出发每次只引入一个缺陷，独立量化致错题数（可多因叠加）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235440" y="6419088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6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run_experiment.py --source formal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3017520" cy="292608"/>
          </a:xfrm>
          <a:prstGeom prst="roundRect">
            <a:avLst>
              <a:gd name="adj" fmla="val 15625"/>
            </a:avLst>
          </a:prstGeom>
          <a:solidFill>
            <a:srgbClr val="2F5FD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6576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· 口径决策 IS-001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730752" y="507492"/>
            <a:ext cx="5669280" cy="20117"/>
          </a:xfrm>
          <a:prstGeom prst="rect">
            <a:avLst/>
          </a:prstGeom>
          <a:solidFill>
            <a:srgbClr val="2F5FD0"/>
          </a:solidFill>
          <a:ln/>
        </p:spPr>
      </p:sp>
      <p:sp>
        <p:nvSpPr>
          <p:cNvPr id="5" name="Text 3"/>
          <p:cNvSpPr/>
          <p:nvPr/>
        </p:nvSpPr>
        <p:spPr>
          <a:xfrm>
            <a:off x="8887968" y="365760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76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44% 的退款是跨月的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469880" y="-36576"/>
            <a:ext cx="1371600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5400" b="1" dirty="0">
                <a:solidFill>
                  <a:srgbClr val="F2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566928" y="93268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C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历史账不能被后续退款改写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66928" y="1810512"/>
            <a:ext cx="3533546" cy="1572768"/>
          </a:xfrm>
          <a:prstGeom prst="roundRect">
            <a:avLst>
              <a:gd name="adj" fmla="val 5233"/>
            </a:avLst>
          </a:prstGeom>
          <a:solidFill>
            <a:srgbClr val="F3F7FF"/>
          </a:solidFill>
          <a:ln w="12700">
            <a:solidFill>
              <a:srgbClr val="CDDDF7"/>
            </a:solidFill>
            <a:prstDash val="solid"/>
          </a:ln>
          <a:effectLst>
            <a:outerShdw sx="100000" sy="100000" kx="0" ky="0" algn="bl" rotWithShape="0" blurRad="101600" dist="50800" dir="16200000">
              <a:srgbClr val="0D1B32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68096" y="2066544"/>
            <a:ext cx="313121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42C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1,356 / 3,062 笔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68096" y="2706624"/>
            <a:ext cx="313121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跨月退款占比 44.28%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29074" y="1810512"/>
            <a:ext cx="3533546" cy="1572768"/>
          </a:xfrm>
          <a:prstGeom prst="roundRect">
            <a:avLst>
              <a:gd name="adj" fmla="val 5233"/>
            </a:avLst>
          </a:prstGeom>
          <a:solidFill>
            <a:srgbClr val="F3F7FF"/>
          </a:solidFill>
          <a:ln w="12700">
            <a:solidFill>
              <a:srgbClr val="CDDDF7"/>
            </a:solidFill>
            <a:prstDash val="solid"/>
          </a:ln>
          <a:effectLst>
            <a:outerShdw sx="100000" sy="100000" kx="0" ky="0" algn="bl" rotWithShape="0" blurRad="101600" dist="50800" dir="16200000">
              <a:srgbClr val="0D1B32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30242" y="2066544"/>
            <a:ext cx="313121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42C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45.55%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30242" y="2706624"/>
            <a:ext cx="313121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跨月退款金额占比（6,176,762.17 元）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91221" y="1810512"/>
            <a:ext cx="3533546" cy="1572768"/>
          </a:xfrm>
          <a:prstGeom prst="roundRect">
            <a:avLst>
              <a:gd name="adj" fmla="val 5233"/>
            </a:avLst>
          </a:prstGeom>
          <a:solidFill>
            <a:srgbClr val="F3F7FF"/>
          </a:solidFill>
          <a:ln w="12700">
            <a:solidFill>
              <a:srgbClr val="CDDDF7"/>
            </a:solidFill>
            <a:prstDash val="solid"/>
          </a:ln>
          <a:effectLst>
            <a:outerShdw sx="100000" sy="100000" kx="0" ky="0" algn="bl" rotWithShape="0" blurRad="101600" dist="50800" dir="16200000">
              <a:srgbClr val="0D1B32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92389" y="2066544"/>
            <a:ext cx="313121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−329,335.21 元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292389" y="2706624"/>
            <a:ext cx="313121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2026-09 华东按支付月归属被回溯改写（−4.82%）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" y="3675888"/>
            <a:ext cx="11057839" cy="1938528"/>
          </a:xfrm>
          <a:prstGeom prst="roundRect">
            <a:avLst>
              <a:gd name="adj" fmla="val 4245"/>
            </a:avLst>
          </a:prstGeom>
          <a:solidFill>
            <a:srgbClr val="EBF6EF"/>
          </a:solidFill>
          <a:ln w="12700">
            <a:solidFill>
              <a:srgbClr val="AED6B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840480"/>
            <a:ext cx="914377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7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三人决策（2026-10-06 签字冻结）：退款按「退款完成月」归属 —— 方案 A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22960" y="4224528"/>
            <a:ext cx="1054577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lang="en-US" sz="1150" dirty="0">
                <a:solidFill>
                  <a:srgbClr val="3A4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 A（refund_time）：净销衡量期间实际沉淀收入，跨月退款不追溯改写已结账月份，现行 S2 / 执行层一致</a:t>
            </a:r>
            <a:endParaRPr lang="en-US" sz="1150" dirty="0"/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lang="en-US" sz="1150" dirty="0">
                <a:solidFill>
                  <a:srgbClr val="3A4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 B（pay_time）：9 月退款会回头改 8 月报表，已发布月度结论持续漂移，违背“口径冻结、结果可追溯”</a:t>
            </a:r>
            <a:endParaRPr lang="en-US" sz="1150" dirty="0"/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lang="en-US" sz="1150" dirty="0">
                <a:solidFill>
                  <a:srgbClr val="3A4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守恒校验：两口径全期总额相等，差异矩阵逐格等于逐笔退款独立重算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6928" y="6345936"/>
            <a:ext cx="11057839" cy="10973"/>
          </a:xfrm>
          <a:prstGeom prst="rect">
            <a:avLst/>
          </a:prstGeom>
          <a:solidFill>
            <a:srgbClr val="DDE4EE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641908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976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正式库 demo-v1.1 自然跨月退款真实测量（非人工注入）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235440" y="6419088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6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口径冻结确认单_2026-10-04.md · is001_refund_timing.py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3017520" cy="292608"/>
          </a:xfrm>
          <a:prstGeom prst="roundRect">
            <a:avLst>
              <a:gd name="adj" fmla="val 15625"/>
            </a:avLst>
          </a:prstGeom>
          <a:solidFill>
            <a:srgbClr val="2F5FD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6576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· 防线四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730752" y="507492"/>
            <a:ext cx="5669280" cy="20117"/>
          </a:xfrm>
          <a:prstGeom prst="rect">
            <a:avLst/>
          </a:prstGeom>
          <a:solidFill>
            <a:srgbClr val="2F5FD0"/>
          </a:solidFill>
          <a:ln/>
        </p:spPr>
      </p:sp>
      <p:sp>
        <p:nvSpPr>
          <p:cNvPr id="5" name="Text 3"/>
          <p:cNvSpPr/>
          <p:nvPr/>
        </p:nvSpPr>
        <p:spPr>
          <a:xfrm>
            <a:off x="8887968" y="365760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76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不支持就说不支持，绝不编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469880" y="-36576"/>
            <a:ext cx="1371600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5400" b="1" dirty="0">
                <a:solidFill>
                  <a:srgbClr val="F2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566928" y="93268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C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四类越界请求，各有明确原因码</a:t>
            </a:r>
            <a:endParaRPr lang="en-US" sz="2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74520"/>
          <a:ext cx="11055096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928616"/>
                <a:gridCol w="27432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69768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问题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69768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数桥回答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69768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原因码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7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为什么华南 9 月净销售额下降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7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数据不足：缺营销 / 竞品 / 价格等外部变量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A47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causal_reasoning_unsupported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7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预测下个月净销售额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7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只查历史数据，不提供预测能力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A47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no_forecast_capability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7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把订单表里 9 月的记录删掉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7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只读平台，拒绝一切写操作（安全红线）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A47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write_operation_refused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7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复购率 / 转化率是多少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7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二期指标，当前版本明确拒答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A47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derived_metric_unsupported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66928" y="5074920"/>
            <a:ext cx="11057839" cy="713232"/>
          </a:xfrm>
          <a:prstGeom prst="roundRect">
            <a:avLst>
              <a:gd name="adj" fmla="val 11538"/>
            </a:avLst>
          </a:prstGeom>
          <a:solidFill>
            <a:srgbClr val="F3F7FF"/>
          </a:solidFill>
          <a:ln w="12700">
            <a:solidFill>
              <a:srgbClr val="CDDDF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5074920"/>
            <a:ext cx="105457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拒答不是能力缺失，是可信承诺：每条拒答都给出原因码、缺少的信息与“下一步可以怎么问”；全题库无依据编造为 0。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66928" y="6345936"/>
            <a:ext cx="11057839" cy="10973"/>
          </a:xfrm>
          <a:prstGeom prst="rect">
            <a:avLst/>
          </a:prstGeom>
          <a:solidFill>
            <a:srgbClr val="DDE4EE"/>
          </a:solidFill>
          <a:ln/>
        </p:spPr>
      </p:sp>
      <p:sp>
        <p:nvSpPr>
          <p:cNvPr id="12" name="Text 9"/>
          <p:cNvSpPr/>
          <p:nvPr/>
        </p:nvSpPr>
        <p:spPr>
          <a:xfrm>
            <a:off x="566928" y="641908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976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写操作、预测、因果、未定义比率在调用模型前即被本地护栏拦截（13 题零 token，见 P14）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9235440" y="6419088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6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shared/contracts.py · ReasonCode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21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3017520" cy="292608"/>
          </a:xfrm>
          <a:prstGeom prst="roundRect">
            <a:avLst>
              <a:gd name="adj" fmla="val 1562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6576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· 现场演示 · LIVE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730752" y="507492"/>
            <a:ext cx="5669280" cy="20117"/>
          </a:xfrm>
          <a:prstGeom prst="rect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887968" y="365760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C6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Streamlit → /agent/query → SQLite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469880" y="-36576"/>
            <a:ext cx="1371600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5400" b="1" dirty="0">
                <a:solidFill>
                  <a:srgbClr val="FFFFFF">
                    <a:alpha val="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566928" y="1298448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年 9 月，华南怎么了？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566928" y="2331720"/>
            <a:ext cx="1992112" cy="1572768"/>
          </a:xfrm>
          <a:prstGeom prst="roundRect">
            <a:avLst>
              <a:gd name="adj" fmla="val 5233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0960" y="2496312"/>
            <a:ext cx="384048" cy="38404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C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" y="2990088"/>
            <a:ext cx="1809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数据接入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58368" y="3355848"/>
            <a:ext cx="1809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9C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20,000 单 · 质检 0/0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577328" y="28346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FA8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833360" y="2331720"/>
            <a:ext cx="1992112" cy="1572768"/>
          </a:xfrm>
          <a:prstGeom prst="roundRect">
            <a:avLst>
              <a:gd name="adj" fmla="val 5233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37392" y="2496312"/>
            <a:ext cx="384048" cy="38404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C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924800" y="2990088"/>
            <a:ext cx="1809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分地区环比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924800" y="3355848"/>
            <a:ext cx="1809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9C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华南 −15.72%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43760" y="28346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FA8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099792" y="2331720"/>
            <a:ext cx="1992112" cy="1572768"/>
          </a:xfrm>
          <a:prstGeom prst="roundRect">
            <a:avLst>
              <a:gd name="adj" fmla="val 5233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03824" y="2496312"/>
            <a:ext cx="384048" cy="38404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C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191232" y="2990088"/>
            <a:ext cx="1809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口径澄清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191232" y="3355848"/>
            <a:ext cx="1809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9C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与②同数收敛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110192" y="28346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FA8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366224" y="2331720"/>
            <a:ext cx="1992112" cy="1572768"/>
          </a:xfrm>
          <a:prstGeom prst="roundRect">
            <a:avLst>
              <a:gd name="adj" fmla="val 5233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70255" y="2496312"/>
            <a:ext cx="384048" cy="38404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C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457664" y="2990088"/>
            <a:ext cx="1809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简报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7457664" y="3355848"/>
            <a:ext cx="1809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9C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点名华南 · 不归因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376623" y="28346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FA8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9632655" y="2331720"/>
            <a:ext cx="1992112" cy="1572768"/>
          </a:xfrm>
          <a:prstGeom prst="roundRect">
            <a:avLst>
              <a:gd name="adj" fmla="val 5233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436687" y="2496312"/>
            <a:ext cx="384048" cy="38404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C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724095" y="2990088"/>
            <a:ext cx="1809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结果依据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9724095" y="3355848"/>
            <a:ext cx="1809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9C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 SQL + query_id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66928" y="4315968"/>
            <a:ext cx="4037076" cy="384048"/>
          </a:xfrm>
          <a:prstGeom prst="roundRect">
            <a:avLst>
              <a:gd name="adj" fmla="val 40476"/>
            </a:avLst>
          </a:prstGeom>
          <a:solidFill>
            <a:srgbClr val="EAF0FE">
              <a:alpha val="70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928" y="4315968"/>
            <a:ext cx="403707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净销 17,198,835.91 元（环比 −6.47%）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86884" y="4315968"/>
            <a:ext cx="3790188" cy="384048"/>
          </a:xfrm>
          <a:prstGeom prst="roundRect">
            <a:avLst>
              <a:gd name="adj" fmla="val 40476"/>
            </a:avLst>
          </a:prstGeom>
          <a:solidFill>
            <a:srgbClr val="C62828">
              <a:alpha val="70000"/>
            </a:srgbClr>
          </a:solidFill>
          <a:ln w="12700">
            <a:solidFill>
              <a:srgbClr val="FFB4B4">
                <a:alpha val="75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86884" y="4315968"/>
            <a:ext cx="379018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华南 ▼15.72% · 减 765,507.42 元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759952" y="4315968"/>
            <a:ext cx="2555748" cy="384048"/>
          </a:xfrm>
          <a:prstGeom prst="roundRect">
            <a:avLst>
              <a:gd name="adj" fmla="val 40476"/>
            </a:avLst>
          </a:prstGeom>
          <a:solidFill>
            <a:srgbClr val="1C7A44">
              <a:alpha val="70000"/>
            </a:srgbClr>
          </a:solidFill>
          <a:ln w="12700">
            <a:solidFill>
              <a:srgbClr val="A0E1B9">
                <a:alpha val="7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759952" y="4315968"/>
            <a:ext cx="255574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华中 ▲1.53% · 唯一正增长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66928" y="596188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6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 黄金路径自动化实测 14/14 通过，连跑 3 次数字逐字一致。live 默认走真实 DeepSeek（理解约 0.9s），断网一键切离线 rules，数字 67/67 一致、演示不翻车。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3017520" cy="292608"/>
          </a:xfrm>
          <a:prstGeom prst="roundRect">
            <a:avLst>
              <a:gd name="adj" fmla="val 15625"/>
            </a:avLst>
          </a:prstGeom>
          <a:solidFill>
            <a:srgbClr val="2F5FD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6576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· 结果可追溯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730752" y="507492"/>
            <a:ext cx="5669280" cy="20117"/>
          </a:xfrm>
          <a:prstGeom prst="rect">
            <a:avLst/>
          </a:prstGeom>
          <a:solidFill>
            <a:srgbClr val="2F5FD0"/>
          </a:solidFill>
          <a:ln/>
        </p:spPr>
      </p:sp>
      <p:sp>
        <p:nvSpPr>
          <p:cNvPr id="5" name="Text 3"/>
          <p:cNvSpPr/>
          <p:nvPr/>
        </p:nvSpPr>
        <p:spPr>
          <a:xfrm>
            <a:off x="8887968" y="365760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76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每个数字都能翻底账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469880" y="-36576"/>
            <a:ext cx="1371600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5400" b="1" dirty="0">
                <a:solidFill>
                  <a:srgbClr val="F2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566928" y="93268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C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返回数字，也返回它的整个生产过程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66928" y="1810512"/>
            <a:ext cx="11057839" cy="2286000"/>
          </a:xfrm>
          <a:prstGeom prst="roundRect">
            <a:avLst>
              <a:gd name="adj" fmla="val 3600"/>
            </a:avLst>
          </a:prstGeom>
          <a:solidFill>
            <a:srgbClr val="0C1730"/>
          </a:solidFill>
          <a:ln w="12700">
            <a:solidFill>
              <a:srgbClr val="0C17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2011680"/>
            <a:ext cx="1041775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D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用户提问  →  共享契约(指标 / 枚举)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86968" y="2414016"/>
            <a:ext cx="1041775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D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结构化查询计划(JSON，白名单过滤)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86968" y="2816352"/>
            <a:ext cx="1041775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D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只读 SQL（参数化、整数分、半开区间、禁写操作）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86968" y="3218688"/>
            <a:ext cx="1041775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D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结果 ＋ 警告 ＋ query_id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86968" y="3621024"/>
            <a:ext cx="1041775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D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/v1/query-records/{id}  随时复查当时的 SQL 与参数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" y="4370832"/>
            <a:ext cx="5391760" cy="1298448"/>
          </a:xfrm>
          <a:prstGeom prst="roundRect">
            <a:avLst>
              <a:gd name="adj" fmla="val 6338"/>
            </a:avLst>
          </a:prstGeom>
          <a:solidFill>
            <a:srgbClr val="FBFCFE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01600" dist="50800" dir="16200000">
              <a:srgbClr val="0D1B32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95528" y="4535424"/>
            <a:ext cx="914377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C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注入与写操作防护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95528" y="4892040"/>
            <a:ext cx="493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4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 注入用例（' OR 1=1 --）返回 422；DELETE / UPDATE 等写词在 Agent 层直接拒答。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33008" y="4370832"/>
            <a:ext cx="5391760" cy="1298448"/>
          </a:xfrm>
          <a:prstGeom prst="roundRect">
            <a:avLst>
              <a:gd name="adj" fmla="val 6338"/>
            </a:avLst>
          </a:prstGeom>
          <a:solidFill>
            <a:srgbClr val="FBFCFE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01600" dist="50800" dir="16200000">
              <a:srgbClr val="0D1B32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61608" y="4535424"/>
            <a:ext cx="914377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C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只读连接 · 哈希不变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61608" y="4892040"/>
            <a:ext cx="493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4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数据库以只读方式连接，测试后文件哈希不变（test_10 只读不变量）。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6928" y="6345936"/>
            <a:ext cx="11057839" cy="10973"/>
          </a:xfrm>
          <a:prstGeom prst="rect">
            <a:avLst/>
          </a:prstGeom>
          <a:solidFill>
            <a:srgbClr val="DDE4EE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641908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976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口径、来源表、数据集版本、生成 SQL 与参数随结果同屏返回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235440" y="6419088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6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/v1/query-records/{query_id}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3017520" cy="292608"/>
          </a:xfrm>
          <a:prstGeom prst="roundRect">
            <a:avLst>
              <a:gd name="adj" fmla="val 15625"/>
            </a:avLst>
          </a:prstGeom>
          <a:solidFill>
            <a:srgbClr val="2F5FD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6576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· 数据准入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730752" y="507492"/>
            <a:ext cx="5669280" cy="20117"/>
          </a:xfrm>
          <a:prstGeom prst="rect">
            <a:avLst/>
          </a:prstGeom>
          <a:solidFill>
            <a:srgbClr val="2F5FD0"/>
          </a:solidFill>
          <a:ln/>
        </p:spPr>
      </p:sp>
      <p:sp>
        <p:nvSpPr>
          <p:cNvPr id="5" name="Text 3"/>
          <p:cNvSpPr/>
          <p:nvPr/>
        </p:nvSpPr>
        <p:spPr>
          <a:xfrm>
            <a:off x="8887968" y="365760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76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数据先过质检，才允许被查询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469880" y="-36576"/>
            <a:ext cx="1371600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5400" b="1" dirty="0">
                <a:solidFill>
                  <a:srgbClr val="F2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566928" y="93268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C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脏数据在入库环节就被挡住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66928" y="1810512"/>
            <a:ext cx="5391760" cy="3913632"/>
          </a:xfrm>
          <a:prstGeom prst="roundRect">
            <a:avLst>
              <a:gd name="adj" fmla="val 2103"/>
            </a:avLst>
          </a:prstGeom>
          <a:solidFill>
            <a:srgbClr val="EBF6EF"/>
          </a:solidFill>
          <a:ln w="12700">
            <a:solidFill>
              <a:srgbClr val="AED6BD"/>
            </a:solidFill>
            <a:prstDash val="solid"/>
          </a:ln>
          <a:effectLst>
            <a:outerShdw sx="100000" sy="100000" kx="0" ky="0" algn="bl" rotWithShape="0" blurRad="101600" dist="50800" dir="16200000">
              <a:srgbClr val="0D1B32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95528" y="1993392"/>
            <a:ext cx="914377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干净库 demo-v1.1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95528" y="2377440"/>
            <a:ext cx="493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8000"/>
              </a:lnSpc>
              <a:spcAft>
                <a:spcPts val="900"/>
              </a:spcAft>
            </a:pPr>
            <a:r>
              <a:rPr lang="en-US" sz="1200" dirty="0">
                <a:solidFill>
                  <a:srgbClr val="3A4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 严重问题 / 0 警告，70 项 manifest 一致性校验全过</a:t>
            </a:r>
            <a:endParaRPr lang="en-US" sz="1200" dirty="0"/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lang="en-US" sz="1200" dirty="0">
                <a:solidFill>
                  <a:srgbClr val="3A4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20,000 订单 / 3,492 退款 / 2,000 客户，覆盖 2026-01~09</a:t>
            </a:r>
            <a:endParaRPr lang="en-US" sz="1200" dirty="0"/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lang="en-US" sz="1200" dirty="0">
                <a:solidFill>
                  <a:srgbClr val="3A4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五地区词表统一，内容 sha256 锁定（DS-001）</a:t>
            </a:r>
            <a:endParaRPr lang="en-US" sz="1200" dirty="0"/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lang="en-US" sz="1200" dirty="0">
                <a:solidFill>
                  <a:srgbClr val="3A4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超额退款 0 例：同一订单累计退款不得超过实付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95528" y="4507992"/>
            <a:ext cx="493456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AED6B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4507992"/>
            <a:ext cx="456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红线：严重问题未解决前，任何查询结果不得作为结论。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33008" y="1810512"/>
            <a:ext cx="5391760" cy="3913632"/>
          </a:xfrm>
          <a:prstGeom prst="roundRect">
            <a:avLst>
              <a:gd name="adj" fmla="val 2103"/>
            </a:avLst>
          </a:prstGeom>
          <a:solidFill>
            <a:srgbClr val="FBFCFE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01600" dist="50800" dir="16200000">
              <a:srgbClr val="0D1B32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61608" y="1993392"/>
            <a:ext cx="914377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C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九类异常固件 + 导入器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61608" y="2377440"/>
            <a:ext cx="493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8000"/>
              </a:lnSpc>
              <a:spcAft>
                <a:spcPts val="900"/>
              </a:spcAft>
            </a:pPr>
            <a:r>
              <a:rPr lang="en-US" sz="1200" dirty="0">
                <a:solidFill>
                  <a:srgbClr val="3A4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重复主键、负金额、坏时间戳、缺列、必填缺失</a:t>
            </a:r>
            <a:endParaRPr lang="en-US" sz="1200" dirty="0"/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lang="en-US" sz="1200" dirty="0">
                <a:solidFill>
                  <a:srgbClr val="3A4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外键悬空、金额类型错误、异常金额、超额退款</a:t>
            </a:r>
            <a:endParaRPr lang="en-US" sz="1200" dirty="0"/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lang="en-US" sz="1200" dirty="0">
                <a:solidFill>
                  <a:srgbClr val="3A4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导入器审计：拦截 6 错 5 警，质检不过即拒绝建库</a:t>
            </a:r>
            <a:endParaRPr lang="en-US" sz="1200" dirty="0"/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lang="en-US" sz="1200" dirty="0">
                <a:solidFill>
                  <a:srgbClr val="3A4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同一订单累计退款 &gt; 实付 → 直接拒绝入库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61608" y="4507992"/>
            <a:ext cx="4934560" cy="1005840"/>
          </a:xfrm>
          <a:prstGeom prst="roundRect">
            <a:avLst>
              <a:gd name="adj" fmla="val 8182"/>
            </a:avLst>
          </a:prstGeom>
          <a:solidFill>
            <a:srgbClr val="FFF6E1"/>
          </a:solidFill>
          <a:ln w="12700">
            <a:solidFill>
              <a:srgbClr val="EFD9A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44488" y="4507992"/>
            <a:ext cx="456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6B4E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真实教训（BUG-01）：8.5 万条演示数据曾查出 3,132 单超额退款、净销多扣约 45.9 万；无放回抽单 + 水位线封顶重生成后归零。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66928" y="6345936"/>
            <a:ext cx="11057839" cy="10973"/>
          </a:xfrm>
          <a:prstGeom prst="rect">
            <a:avLst/>
          </a:prstGeom>
          <a:solidFill>
            <a:srgbClr val="DDE4EE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" y="641908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976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导入器与 70 项校验见成员 1 交付；F01/F02 八异常场景 scenario_test 17 项通过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235440" y="6419088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6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scripts/import_dataset.py · validate_demo.py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3017520" cy="292608"/>
          </a:xfrm>
          <a:prstGeom prst="roundRect">
            <a:avLst>
              <a:gd name="adj" fmla="val 15625"/>
            </a:avLst>
          </a:prstGeom>
          <a:solidFill>
            <a:srgbClr val="2F5FD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6576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成员 1 · 实验结果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730752" y="507492"/>
            <a:ext cx="5669280" cy="20117"/>
          </a:xfrm>
          <a:prstGeom prst="rect">
            <a:avLst/>
          </a:prstGeom>
          <a:solidFill>
            <a:srgbClr val="2F5FD0"/>
          </a:solidFill>
          <a:ln/>
        </p:spPr>
      </p:sp>
      <p:sp>
        <p:nvSpPr>
          <p:cNvPr id="5" name="Text 3"/>
          <p:cNvSpPr/>
          <p:nvPr/>
        </p:nvSpPr>
        <p:spPr>
          <a:xfrm>
            <a:off x="8887968" y="365760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76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37 开发题 + 30 保留题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469880" y="-36576"/>
            <a:ext cx="1371600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5400" b="1" dirty="0">
                <a:solidFill>
                  <a:srgbClr val="F2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566928" y="93268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C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 / 37 对 37 / 37：治理层增量被逐题量化</a:t>
            </a:r>
            <a:endParaRPr lang="en-US" sz="25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10512"/>
          <a:ext cx="5843016" cy="914400"/>
        </p:xfrm>
        <a:graphic>
          <a:graphicData uri="http://schemas.openxmlformats.org/drawingml/2006/table">
            <a:tbl>
              <a:tblPr/>
              <a:tblGrid>
                <a:gridCol w="3063240"/>
                <a:gridCol w="1389888"/>
                <a:gridCol w="1389888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9768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指标（开发集 37 题）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9768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S1 直接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9768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S2 数桥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47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任务完成率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37（0%）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C7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 / 37（100%）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47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数值错误（元数据对、数字错）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A47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C7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47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无依据编造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A47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C7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47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正确澄清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A47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C7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66928" y="4069080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保留集 30 题盲测（开发期不调参）同样 30/30。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66928" y="4407408"/>
            <a:ext cx="5843016" cy="1207008"/>
          </a:xfrm>
          <a:prstGeom prst="roundRect">
            <a:avLst>
              <a:gd name="adj" fmla="val 6818"/>
            </a:avLst>
          </a:prstGeom>
          <a:solidFill>
            <a:srgbClr val="F3F7FF"/>
          </a:solidFill>
          <a:ln w="12700">
            <a:solidFill>
              <a:srgbClr val="CDDDF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8096" y="4526280"/>
            <a:ext cx="5440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A4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S1 是确定性行为基线（无真实 LLM），用于隔离治理层价值。
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42C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换上真实大模型还守不守得住？下一页用同一批 67 题给实测答案。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629400" y="1810512"/>
            <a:ext cx="4995367" cy="987552"/>
          </a:xfrm>
          <a:prstGeom prst="roundRect">
            <a:avLst>
              <a:gd name="adj" fmla="val 8333"/>
            </a:avLst>
          </a:prstGeom>
          <a:solidFill>
            <a:srgbClr val="F3F7FF"/>
          </a:solidFill>
          <a:ln w="12700">
            <a:solidFill>
              <a:srgbClr val="CDDDF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12280" y="1920240"/>
            <a:ext cx="462960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C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跨团队同数锚点 F07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812280" y="2194560"/>
            <a:ext cx="462960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A4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formal_dataset_test 35 项，9 月五指标×全平台/五地区共 25 项地区核对，差值 0 分。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629400" y="2889504"/>
            <a:ext cx="4995367" cy="987552"/>
          </a:xfrm>
          <a:prstGeom prst="roundRect">
            <a:avLst>
              <a:gd name="adj" fmla="val 8333"/>
            </a:avLst>
          </a:prstGeom>
          <a:solidFill>
            <a:srgbClr val="F3F7FF"/>
          </a:solidFill>
          <a:ln w="12700">
            <a:solidFill>
              <a:srgbClr val="CDDDF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12280" y="2999232"/>
            <a:ext cx="462960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C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测试金字塔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812280" y="3273552"/>
            <a:ext cx="462960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A4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个自动化入口全绿：真实模型 67 题复测、smoke 26、开发 37、保留 30、F01–F08、live 15、formal 35 等。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629400" y="3968496"/>
            <a:ext cx="4995367" cy="987552"/>
          </a:xfrm>
          <a:prstGeom prst="roundRect">
            <a:avLst>
              <a:gd name="adj" fmla="val 8333"/>
            </a:avLst>
          </a:prstGeom>
          <a:solidFill>
            <a:srgbClr val="EBF6EF"/>
          </a:solidFill>
          <a:ln w="12700">
            <a:solidFill>
              <a:srgbClr val="AED6B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812280" y="4078224"/>
            <a:ext cx="462960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诚实声明 → 真实模型复测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812280" y="4352544"/>
            <a:ext cx="462960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A4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不写未验证数字；真实 DeepSeek 复测见下一页 P14。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629400" y="5047488"/>
            <a:ext cx="4995367" cy="98755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812280" y="5157216"/>
            <a:ext cx="462960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C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一键复现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6812280" y="5431536"/>
            <a:ext cx="462960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A47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run_testset.py 开发集/保留集 · run_experiment.py --source formal · formal_dataset_test.py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566928" y="6345936"/>
            <a:ext cx="11057839" cy="10973"/>
          </a:xfrm>
          <a:prstGeom prst="rect">
            <a:avLst/>
          </a:prstGeom>
          <a:solidFill>
            <a:srgbClr val="DDE4EE"/>
          </a:solidFill>
          <a:ln/>
        </p:spPr>
      </p:sp>
      <p:sp>
        <p:nvSpPr>
          <p:cNvPr id="25" name="Text 22"/>
          <p:cNvSpPr/>
          <p:nvPr/>
        </p:nvSpPr>
        <p:spPr>
          <a:xfrm>
            <a:off x="566928" y="641908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976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S1 失败的 37 题恰好分布在三道防线：数值 21 / 澄清 8 / 编造与写操作 8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9235440" y="6419088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6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run_experiment.py --source formal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3017520" cy="292608"/>
          </a:xfrm>
          <a:prstGeom prst="roundRect">
            <a:avLst>
              <a:gd name="adj" fmla="val 15625"/>
            </a:avLst>
          </a:prstGeom>
          <a:solidFill>
            <a:srgbClr val="2F5FD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6576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成员 2 · 真实模型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730752" y="507492"/>
            <a:ext cx="5669280" cy="20117"/>
          </a:xfrm>
          <a:prstGeom prst="rect">
            <a:avLst/>
          </a:prstGeom>
          <a:solidFill>
            <a:srgbClr val="2F5FD0"/>
          </a:solidFill>
          <a:ln/>
        </p:spPr>
      </p:sp>
      <p:sp>
        <p:nvSpPr>
          <p:cNvPr id="5" name="Text 3"/>
          <p:cNvSpPr/>
          <p:nvPr/>
        </p:nvSpPr>
        <p:spPr>
          <a:xfrm>
            <a:off x="8887968" y="365760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76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 全量复测 · 2026-10-06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469880" y="-36576"/>
            <a:ext cx="1371600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5400" b="1" dirty="0">
                <a:solidFill>
                  <a:srgbClr val="F2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566928" y="93268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C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换上真实 DeepSeek，67 个数字</a:t>
            </a:r>
            <a:pPr algn="l" indent="0" marL="0">
              <a:buNone/>
            </a:pPr>
            <a:r>
              <a:rPr lang="en-US" sz="2500" b="1" dirty="0">
                <a:solidFill>
                  <a:srgbClr val="1C7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一个没变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66928" y="1783080"/>
            <a:ext cx="5285232" cy="2212848"/>
          </a:xfrm>
          <a:prstGeom prst="roundRect">
            <a:avLst>
              <a:gd name="adj" fmla="val 3719"/>
            </a:avLst>
          </a:prstGeom>
          <a:solidFill>
            <a:srgbClr val="0C1730"/>
          </a:solidFill>
          <a:ln w="12700">
            <a:solidFill>
              <a:srgbClr val="0C17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965960"/>
            <a:ext cx="4773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6D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用户自然语言问题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2359152"/>
            <a:ext cx="4773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B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真实 DeepSeek：问题 → 结构化槽位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22960" y="2752344"/>
            <a:ext cx="4773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B8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◀ 模型到此为止 · 不碰数据库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22960" y="3145536"/>
            <a:ext cx="4773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6D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本地治理：字典 · 澄清 · 护栏 · 只读 SQL · 聚合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22960" y="3538728"/>
            <a:ext cx="4773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D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可信结果 ＋ SQL ＋ query_id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4160520"/>
            <a:ext cx="5285232" cy="1755648"/>
          </a:xfrm>
          <a:prstGeom prst="roundRect">
            <a:avLst>
              <a:gd name="adj" fmla="val 4688"/>
            </a:avLst>
          </a:prstGeom>
          <a:solidFill>
            <a:srgbClr val="EBF6EF"/>
          </a:solidFill>
          <a:ln w="12700">
            <a:solidFill>
              <a:srgbClr val="AED6BD"/>
            </a:solidFill>
            <a:prstDash val="solid"/>
          </a:ln>
          <a:effectLst>
            <a:outerShdw sx="100000" sy="100000" kx="0" ky="0" algn="bl" rotWithShape="0" blurRad="101600" dist="50800" dir="16200000">
              <a:srgbClr val="0D1B32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86384" y="430682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C7A44"/>
          </a:solidFill>
          <a:ln/>
        </p:spPr>
      </p:sp>
      <p:sp>
        <p:nvSpPr>
          <p:cNvPr id="16" name="Text 14"/>
          <p:cNvSpPr/>
          <p:nvPr/>
        </p:nvSpPr>
        <p:spPr>
          <a:xfrm>
            <a:off x="786384" y="43068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70432" y="4315968"/>
            <a:ext cx="4462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题在模型调用前就被拦下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86384" y="4727448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3A4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因果 / 预测 / 写操作 / 口径冲突类问题由本地护栏前置拦截——问题不外发、零 token，既不泄密又省钱。规则 / 模型一键切换，数字 67/67 一致。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44768" y="1783080"/>
          <a:ext cx="5479999" cy="914400"/>
        </p:xfrm>
        <a:graphic>
          <a:graphicData uri="http://schemas.openxmlformats.org/drawingml/2006/table">
            <a:tbl>
              <a:tblPr/>
              <a:tblGrid>
                <a:gridCol w="3803904"/>
                <a:gridCol w="1676095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9768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正式库 demo-v1.1 实测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9768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结果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47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开发集 37 题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C7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 / 37 正确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47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保留集 30 题（盲测 · 未调参）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C7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 / 30 正确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47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与离线规则信封（含全部数据行）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C7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 / 67 逐字段一致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47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无依据编造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3A47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47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终态执行失败（1 题重试后成功）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3A47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6144768" y="3941064"/>
            <a:ext cx="1753514" cy="932688"/>
          </a:xfrm>
          <a:prstGeom prst="roundRect">
            <a:avLst>
              <a:gd name="adj" fmla="val 8824"/>
            </a:avLst>
          </a:prstGeom>
          <a:solidFill>
            <a:srgbClr val="FBFCFE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272784" y="4041648"/>
            <a:ext cx="14974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976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真实调用模型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272784" y="4297680"/>
            <a:ext cx="149748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2C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 题</a:t>
            </a:r>
            <a:endParaRPr lang="en-US" sz="1700" dirty="0"/>
          </a:p>
        </p:txBody>
      </p:sp>
      <p:sp>
        <p:nvSpPr>
          <p:cNvPr id="23" name="Shape 20"/>
          <p:cNvSpPr/>
          <p:nvPr/>
        </p:nvSpPr>
        <p:spPr>
          <a:xfrm>
            <a:off x="8008010" y="3941064"/>
            <a:ext cx="1753514" cy="932688"/>
          </a:xfrm>
          <a:prstGeom prst="roundRect">
            <a:avLst>
              <a:gd name="adj" fmla="val 8824"/>
            </a:avLst>
          </a:prstGeom>
          <a:solidFill>
            <a:srgbClr val="FBFCFE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136026" y="4041648"/>
            <a:ext cx="14974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976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护栏前零调用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8136026" y="4297680"/>
            <a:ext cx="149748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C7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题</a:t>
            </a:r>
            <a:endParaRPr lang="en-US" sz="1700" dirty="0"/>
          </a:p>
        </p:txBody>
      </p:sp>
      <p:sp>
        <p:nvSpPr>
          <p:cNvPr id="26" name="Shape 23"/>
          <p:cNvSpPr/>
          <p:nvPr/>
        </p:nvSpPr>
        <p:spPr>
          <a:xfrm>
            <a:off x="9871253" y="3941064"/>
            <a:ext cx="1753514" cy="932688"/>
          </a:xfrm>
          <a:prstGeom prst="roundRect">
            <a:avLst>
              <a:gd name="adj" fmla="val 8824"/>
            </a:avLst>
          </a:prstGeom>
          <a:solidFill>
            <a:srgbClr val="FBFCFE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999269" y="4041648"/>
            <a:ext cx="14974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976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67 题实付成本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9999269" y="4297680"/>
            <a:ext cx="149748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2C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¥0.023</a:t>
            </a:r>
            <a:endParaRPr lang="en-US" sz="1700" dirty="0"/>
          </a:p>
        </p:txBody>
      </p:sp>
      <p:sp>
        <p:nvSpPr>
          <p:cNvPr id="29" name="Shape 26"/>
          <p:cNvSpPr/>
          <p:nvPr/>
        </p:nvSpPr>
        <p:spPr>
          <a:xfrm>
            <a:off x="6144768" y="5020056"/>
            <a:ext cx="5479999" cy="896112"/>
          </a:xfrm>
          <a:prstGeom prst="roundRect">
            <a:avLst>
              <a:gd name="adj" fmla="val 9184"/>
            </a:avLst>
          </a:prstGeom>
          <a:solidFill>
            <a:srgbClr val="F3F7FF"/>
          </a:solidFill>
          <a:ln w="12700">
            <a:solidFill>
              <a:srgbClr val="CDDDF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27648" y="5020056"/>
            <a:ext cx="5114239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A4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 0.93s/题（p90 1.03s，最大 3.67s 即重试题）；缓存命中 62,208 token。请求名 deepseek-chat 经官方别名实际服务 deepseek-flash（V4.1-Flash）。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566928" y="6345936"/>
            <a:ext cx="11057839" cy="10973"/>
          </a:xfrm>
          <a:prstGeom prst="rect">
            <a:avLst/>
          </a:prstGeom>
          <a:solidFill>
            <a:srgbClr val="DDE4EE"/>
          </a:solidFill>
          <a:ln/>
        </p:spPr>
      </p:sp>
      <p:sp>
        <p:nvSpPr>
          <p:cNvPr id="32" name="Text 29"/>
          <p:cNvSpPr/>
          <p:nvPr/>
        </p:nvSpPr>
        <p:spPr>
          <a:xfrm>
            <a:off x="566928" y="641908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976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模型只做语言理解；口径、聚合、拒答与计算全部本地，模型可替换而信任不打折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9235440" y="6419088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6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_LLM真实模型复测明细.csv · 测试报告 §4.2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3017520" cy="292608"/>
          </a:xfrm>
          <a:prstGeom prst="roundRect">
            <a:avLst>
              <a:gd name="adj" fmla="val 15625"/>
            </a:avLst>
          </a:prstGeom>
          <a:solidFill>
            <a:srgbClr val="2F5FD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6576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· 系统架构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730752" y="507492"/>
            <a:ext cx="5669280" cy="20117"/>
          </a:xfrm>
          <a:prstGeom prst="rect">
            <a:avLst/>
          </a:prstGeom>
          <a:solidFill>
            <a:srgbClr val="2F5FD0"/>
          </a:solidFill>
          <a:ln/>
        </p:spPr>
      </p:sp>
      <p:sp>
        <p:nvSpPr>
          <p:cNvPr id="5" name="Text 3"/>
          <p:cNvSpPr/>
          <p:nvPr/>
        </p:nvSpPr>
        <p:spPr>
          <a:xfrm>
            <a:off x="8887968" y="365760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76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三人三模块 · 契约驱动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469880" y="-36576"/>
            <a:ext cx="1371600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5400" b="1" dirty="0">
                <a:solidFill>
                  <a:srgbClr val="F2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566928" y="93268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C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独立开发，靠一份冻结契约严丝合缝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66928" y="1783080"/>
            <a:ext cx="11057839" cy="2999232"/>
          </a:xfrm>
          <a:prstGeom prst="roundRect">
            <a:avLst>
              <a:gd name="adj" fmla="val 2744"/>
            </a:avLst>
          </a:prstGeom>
          <a:solidFill>
            <a:srgbClr val="0C1730"/>
          </a:solidFill>
          <a:ln w="12700">
            <a:solidFill>
              <a:srgbClr val="0C17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1975104"/>
            <a:ext cx="104726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Streamlit 产品页面（成员 3）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59536" y="2313432"/>
            <a:ext cx="104726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93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 mock 参考实现            // 现场保底，开箱零依赖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59536" y="2651760"/>
            <a:ext cx="104726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D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 live ─▶ POST /agent/query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59536" y="2990088"/>
            <a:ext cx="104726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AI 工作流（成员 2）   // 规则 / 真实 DeepSeek 一键切换 · 两轮澄清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59536" y="3328416"/>
            <a:ext cx="104726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D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· 槽位白名单校验     // 模型只提建议，执行在本地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9536" y="3666744"/>
            <a:ext cx="104726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D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· 比率=两次分量查询组合 // 分子分母溯源 + 数据集指纹校验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59536" y="4005072"/>
            <a:ext cx="104726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D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▼ POST /v1/query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59536" y="4343400"/>
            <a:ext cx="104726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FastAPI 查询服务（成员 1）：计划校验 / 版本协商 / 只读 SQLite（整数分）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" y="4956048"/>
            <a:ext cx="3594506" cy="1170432"/>
          </a:xfrm>
          <a:prstGeom prst="roundRect">
            <a:avLst>
              <a:gd name="adj" fmla="val 7031"/>
            </a:avLst>
          </a:prstGeom>
          <a:solidFill>
            <a:srgbClr val="F3F7FF"/>
          </a:solidFill>
          <a:ln w="12700">
            <a:solidFill>
              <a:srgbClr val="CDDD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5084064"/>
            <a:ext cx="914377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C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契约 v1.2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49808" y="5376672"/>
            <a:ext cx="322874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A4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 / 状态 / 维度 / 地区枚举全部冻结，CHANGELOG 可追溯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298594" y="4956048"/>
            <a:ext cx="3594506" cy="1170432"/>
          </a:xfrm>
          <a:prstGeom prst="roundRect">
            <a:avLst>
              <a:gd name="adj" fmla="val 7031"/>
            </a:avLst>
          </a:prstGeom>
          <a:solidFill>
            <a:srgbClr val="F3F7FF"/>
          </a:solidFill>
          <a:ln w="12700">
            <a:solidFill>
              <a:srgbClr val="CDDD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1474" y="5084064"/>
            <a:ext cx="914377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C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数据集版本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481474" y="5376672"/>
            <a:ext cx="322874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A4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 sha256 哈希；DS-001 五地区统一；DS-004 正式库主线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030261" y="4956048"/>
            <a:ext cx="3594506" cy="1170432"/>
          </a:xfrm>
          <a:prstGeom prst="roundRect">
            <a:avLst>
              <a:gd name="adj" fmla="val 7031"/>
            </a:avLst>
          </a:prstGeom>
          <a:solidFill>
            <a:srgbClr val="F3F7FF"/>
          </a:solidFill>
          <a:ln w="12700">
            <a:solidFill>
              <a:srgbClr val="CDDD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13141" y="5084064"/>
            <a:ext cx="914377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C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联调方式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213141" y="5376672"/>
            <a:ext cx="322874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A4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mock_server 先行，契约测试与 35 项同数锚点收口，互不等待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66928" y="6345936"/>
            <a:ext cx="11057839" cy="10973"/>
          </a:xfrm>
          <a:prstGeom prst="rect">
            <a:avLst/>
          </a:prstGeom>
          <a:solidFill>
            <a:srgbClr val="DDE4EE"/>
          </a:solidFill>
          <a:ln/>
        </p:spPr>
      </p:sp>
      <p:sp>
        <p:nvSpPr>
          <p:cNvPr id="27" name="Text 25"/>
          <p:cNvSpPr/>
          <p:nvPr/>
        </p:nvSpPr>
        <p:spPr>
          <a:xfrm>
            <a:off x="566928" y="641908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976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 · Agent · SQL 服务对同一问题给出相同数字（F07 逐分一致）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235440" y="6419088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6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databridge/ · agent/ · app/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3017520" cy="292608"/>
          </a:xfrm>
          <a:prstGeom prst="roundRect">
            <a:avLst>
              <a:gd name="adj" fmla="val 15625"/>
            </a:avLst>
          </a:prstGeom>
          <a:solidFill>
            <a:srgbClr val="2F5FD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6576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· 当前限制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730752" y="507492"/>
            <a:ext cx="5669280" cy="20117"/>
          </a:xfrm>
          <a:prstGeom prst="rect">
            <a:avLst/>
          </a:prstGeom>
          <a:solidFill>
            <a:srgbClr val="2F5FD0"/>
          </a:solidFill>
          <a:ln/>
        </p:spPr>
      </p:sp>
      <p:sp>
        <p:nvSpPr>
          <p:cNvPr id="5" name="Text 3"/>
          <p:cNvSpPr/>
          <p:nvPr/>
        </p:nvSpPr>
        <p:spPr>
          <a:xfrm>
            <a:off x="8887968" y="365760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76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如实说明 · 分工文档 §10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469880" y="-36576"/>
            <a:ext cx="1371600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5400" b="1" dirty="0">
                <a:solidFill>
                  <a:srgbClr val="F2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566928" y="93268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C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边界讲清楚，数字才可信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66928" y="1810512"/>
            <a:ext cx="5391760" cy="3931920"/>
          </a:xfrm>
          <a:prstGeom prst="roundRect">
            <a:avLst>
              <a:gd name="adj" fmla="val 2093"/>
            </a:avLst>
          </a:prstGeom>
          <a:solidFill>
            <a:srgbClr val="FBFCFE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01600" dist="50800" dir="16200000">
              <a:srgbClr val="0D1B32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95528" y="1993392"/>
            <a:ext cx="914377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C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已知限制（6）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95528" y="2377440"/>
            <a:ext cx="49345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lang="en-US" sz="1150" dirty="0">
                <a:solidFill>
                  <a:srgbClr val="3A4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固定种子模拟业务数据（2 万单 / 2026-01~09），不代表真实经营</a:t>
            </a:r>
            <a:endParaRPr lang="en-US" sz="1150" dirty="0"/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lang="en-US" sz="1150" dirty="0">
                <a:solidFill>
                  <a:srgbClr val="3A4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真实模型仅验证单一供应商（deepseek-flash）与 67 道零售题；跨模型 / 跨行业题集 / 长周期稳定性未测</a:t>
            </a:r>
            <a:endParaRPr lang="en-US" sz="1150" dirty="0"/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lang="en-US" sz="1150" dirty="0">
                <a:solidFill>
                  <a:srgbClr val="3A4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模型只做“问题→槽位”；LLM 直接生成 SQL 不在产品架构内，S1 保留为确定性对照</a:t>
            </a:r>
            <a:endParaRPr lang="en-US" sz="1150" dirty="0"/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lang="en-US" sz="1150" dirty="0">
                <a:solidFill>
                  <a:srgbClr val="3A4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比率在 Agent 层组合，/v1/query 仍只接受 5 个基础指标</a:t>
            </a:r>
            <a:endParaRPr lang="en-US" sz="1150" dirty="0"/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lang="en-US" sz="1150" dirty="0">
                <a:solidFill>
                  <a:srgbClr val="3A4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维度、5+3 指标；同比、预测、因果、复购率明确不做</a:t>
            </a:r>
            <a:endParaRPr lang="en-US" sz="1150" dirty="0"/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lang="en-US" sz="1150" dirty="0">
                <a:solidFill>
                  <a:srgbClr val="3A4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未做换机全新部署验证；上传 / 激活闭环不在本次演示范围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33008" y="1810512"/>
            <a:ext cx="5391760" cy="3931920"/>
          </a:xfrm>
          <a:prstGeom prst="roundRect">
            <a:avLst>
              <a:gd name="adj" fmla="val 2093"/>
            </a:avLst>
          </a:prstGeom>
          <a:solidFill>
            <a:srgbClr val="EBF6EF"/>
          </a:solidFill>
          <a:ln w="12700">
            <a:solidFill>
              <a:srgbClr val="AED6BD"/>
            </a:solidFill>
            <a:prstDash val="solid"/>
          </a:ln>
          <a:effectLst>
            <a:outerShdw sx="100000" sy="100000" kx="0" ky="0" algn="bl" rotWithShape="0" blurRad="101600" dist="50800" dir="16200000">
              <a:srgbClr val="0D1B32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61608" y="1993392"/>
            <a:ext cx="914377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下一步路线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61608" y="2377440"/>
            <a:ext cx="49345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lang="en-US" sz="1200" dirty="0">
                <a:solidFill>
                  <a:srgbClr val="3A4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已达成：真实 DeepSeek 67 题复测——37/37、30/30、0 编造，成本 ¥0.023</a:t>
            </a:r>
            <a:endParaRPr lang="en-US" sz="1200" dirty="0"/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lang="en-US" sz="1200" dirty="0">
                <a:solidFill>
                  <a:srgbClr val="3A4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近期：更多模型供应商与跨行业题集验证；datasets/inspect 上传激活闭环</a:t>
            </a:r>
            <a:endParaRPr lang="en-US" sz="1200" dirty="0"/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lang="en-US" sz="1200" dirty="0">
                <a:solidFill>
                  <a:srgbClr val="3A4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二期：复购率等更多派生指标、更多分析维度</a:t>
            </a:r>
            <a:endParaRPr lang="en-US" sz="1200" dirty="0"/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lang="en-US" sz="1200" dirty="0">
                <a:solidFill>
                  <a:srgbClr val="3A4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工程化：换机部署脚本（F08）、并发 / 负载测试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6345936"/>
            <a:ext cx="11057839" cy="10973"/>
          </a:xfrm>
          <a:prstGeom prst="rect">
            <a:avLst/>
          </a:prstGeom>
          <a:solidFill>
            <a:srgbClr val="DDE4EE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641908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976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 0.023 元、时延 0.93s 均为实测；不使用任何未经验证的效果数据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235440" y="6419088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6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docs/测试报告.md §4.2 / §6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E21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108960"/>
            <a:ext cx="4937760" cy="4937760"/>
          </a:xfrm>
          <a:prstGeom prst="ellipse">
            <a:avLst/>
          </a:prstGeom>
          <a:solidFill>
            <a:srgbClr val="2656BD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365760"/>
            <a:ext cx="3017520" cy="292608"/>
          </a:xfrm>
          <a:prstGeom prst="roundRect">
            <a:avLst>
              <a:gd name="adj" fmla="val 1562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6576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· 结语 &amp; Q&amp;A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730752" y="507492"/>
            <a:ext cx="5669280" cy="20117"/>
          </a:xfrm>
          <a:prstGeom prst="rect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887968" y="365760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C6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谢谢评委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469880" y="-36576"/>
            <a:ext cx="1371600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5400" b="1" dirty="0">
                <a:solidFill>
                  <a:srgbClr val="FFFFFF">
                    <a:alpha val="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566928" y="1481328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取数的门槛，不是写不写得出 SQL，</a:t>
            </a:r>
            <a:endParaRPr lang="en-US" sz="3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而是数字能不能被信任。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66928" y="2999232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7E3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数桥做的，就是 Agent 与企业数据之间的这层信任。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66928" y="3822192"/>
            <a:ext cx="1133856" cy="347472"/>
          </a:xfrm>
          <a:prstGeom prst="roundRect">
            <a:avLst>
              <a:gd name="adj" fmla="val 4473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3822192"/>
            <a:ext cx="113385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解决什么问题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865376" y="3822192"/>
            <a:ext cx="2505456" cy="347472"/>
          </a:xfrm>
          <a:prstGeom prst="roundRect">
            <a:avLst>
              <a:gd name="adj" fmla="val 4473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65376" y="3822192"/>
            <a:ext cx="250545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 Text-to-SQL 区别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35424" y="3822192"/>
            <a:ext cx="1271016" cy="347472"/>
          </a:xfrm>
          <a:prstGeom prst="roundRect">
            <a:avLst>
              <a:gd name="adj" fmla="val 4473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35424" y="3822192"/>
            <a:ext cx="127101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为何选零售场景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971032" y="3822192"/>
            <a:ext cx="996696" cy="347472"/>
          </a:xfrm>
          <a:prstGeom prst="roundRect">
            <a:avLst>
              <a:gd name="adj" fmla="val 4473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71032" y="3822192"/>
            <a:ext cx="99669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数据从哪来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132320" y="3822192"/>
            <a:ext cx="1133856" cy="347472"/>
          </a:xfrm>
          <a:prstGeom prst="roundRect">
            <a:avLst>
              <a:gd name="adj" fmla="val 4473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0" y="3822192"/>
            <a:ext cx="113385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如何证明正确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430768" y="3822192"/>
            <a:ext cx="1545336" cy="347472"/>
          </a:xfrm>
          <a:prstGeom prst="roundRect">
            <a:avLst>
              <a:gd name="adj" fmla="val 4473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30768" y="3822192"/>
            <a:ext cx="154533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真实大模型效果如何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0140696" y="3822192"/>
            <a:ext cx="1133856" cy="347472"/>
          </a:xfrm>
          <a:prstGeom prst="roundRect">
            <a:avLst>
              <a:gd name="adj" fmla="val 4473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140696" y="3822192"/>
            <a:ext cx="113385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限制与下一步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66928" y="5230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C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答疑分工：产品与演示 → 成员 3　·　Agent 机制 → 成员 2　·　指标口径 / 质检 / 实验 → 成员 1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66928" y="6263640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C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数桥 DataBridge · 中国数联 × 华师大 AI 智能体校园黑客松 · demo-v1.1 · 2026-10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华东师范大学 · 数联科技 AI 智能体校园黑客松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数桥 DataBridge · 答辩（17 页）</dc:title>
  <dc:subject>赛题二 · 面向 AI Agent 的可信取数平台</dc:subject>
  <dc:creator>数桥 DataBridge 团队</dc:creator>
  <cp:lastModifiedBy>数桥 DataBridge 团队</cp:lastModifiedBy>
  <cp:revision>1</cp:revision>
  <dcterms:created xsi:type="dcterms:W3CDTF">2026-10-07T05:29:10Z</dcterms:created>
  <dcterms:modified xsi:type="dcterms:W3CDTF">2026-10-07T05:29:10Z</dcterms:modified>
</cp:coreProperties>
</file>